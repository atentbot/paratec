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418320" y="-1097280"/>
            <a:ext cx="5029200" cy="5486400"/>
          </a:xfrm>
          <a:custGeom>
            <a:avLst/>
            <a:gdLst/>
            <a:ahLst/>
            <a:cxnLst/>
            <a:rect l="l" t="t" r="r" b="b"/>
            <a:pathLst>
              <a:path w="5029200" h="5486400">
                <a:moveTo>
                  <a:pt x="0" y="2468880"/>
                </a:moveTo>
                <a:lnTo>
                  <a:pt x="2766060" y="0"/>
                </a:lnTo>
                <a:lnTo>
                  <a:pt x="2112264" y="2084832"/>
                </a:lnTo>
                <a:lnTo>
                  <a:pt x="5029200" y="1645920"/>
                </a:lnTo>
                <a:lnTo>
                  <a:pt x="2263140" y="5486400"/>
                </a:lnTo>
                <a:lnTo>
                  <a:pt x="2916936" y="3291840"/>
                </a:lnTo>
                <a:lnTo>
                  <a:pt x="0" y="3730752"/>
                </a:lnTo>
                <a:close/>
              </a:path>
            </a:pathLst>
          </a:custGeom>
          <a:solidFill>
            <a:srgbClr val="17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869680" y="3931920"/>
            <a:ext cx="3840480" cy="4206240"/>
          </a:xfrm>
          <a:custGeom>
            <a:avLst/>
            <a:gdLst/>
            <a:ahLst/>
            <a:cxnLst/>
            <a:rect l="l" t="t" r="r" b="b"/>
            <a:pathLst>
              <a:path w="3840480" h="4206240">
                <a:moveTo>
                  <a:pt x="0" y="1892808"/>
                </a:moveTo>
                <a:lnTo>
                  <a:pt x="2112264" y="0"/>
                </a:lnTo>
                <a:lnTo>
                  <a:pt x="1613001" y="1598371"/>
                </a:lnTo>
                <a:lnTo>
                  <a:pt x="3840480" y="1261872"/>
                </a:lnTo>
                <a:lnTo>
                  <a:pt x="1728216" y="4206240"/>
                </a:lnTo>
                <a:lnTo>
                  <a:pt x="2227478" y="2523744"/>
                </a:lnTo>
                <a:lnTo>
                  <a:pt x="0" y="2860243"/>
                </a:lnTo>
                <a:close/>
              </a:path>
            </a:pathLst>
          </a:custGeom>
          <a:solidFill>
            <a:srgbClr val="14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atec-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46888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Atendimento inteligente </a:t>
            </a:r>
            <a:r>
              <a:rPr sz="4600" b="1" i="0">
                <a:solidFill>
                  <a:srgbClr val="1CA9E0"/>
                </a:solidFill>
                <a:latin typeface="Calibri"/>
              </a:rPr>
              <a:t>no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9476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7D3DF"/>
                </a:solidFill>
                <a:latin typeface="Calibri"/>
              </a:rPr>
              <a:t>Plataforma de agentes de IA para os vendedores da Paratec 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7D3DF"/>
                </a:solidFill>
                <a:latin typeface="Calibri"/>
              </a:rPr>
              <a:t>cadastra clientes, consulta o catálogo e responde 24/7.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02920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2578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SPDA · Para-raios · NBR 5419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3093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Pitch do projeto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O desafio do atendimento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60704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0E1E2E"/>
                </a:solidFill>
                <a:latin typeface="Calibri"/>
              </a:rPr>
              <a:t>Clientes chegam pelo WhatsApp a qualquer hora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5B6677"/>
                </a:solidFill>
                <a:latin typeface="Calibri"/>
              </a:rPr>
              <a:t>      picos fora do horário comercial ficam sem resposta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0E1E2E"/>
                </a:solidFill>
                <a:latin typeface="Calibri"/>
              </a:rPr>
              <a:t>Dúvidas repetidas de catálogo consomem o vendedor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5B6677"/>
                </a:solidFill>
                <a:latin typeface="Calibri"/>
              </a:rPr>
              <a:t>      produtos, materiais, dimensões, códigos (SKU)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0E1E2E"/>
                </a:solidFill>
                <a:latin typeface="Calibri"/>
              </a:rPr>
              <a:t>Cadastro de clientes desestruturado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5B6677"/>
                </a:solidFill>
                <a:latin typeface="Calibri"/>
              </a:rPr>
              <a:t>      faltam razão social, CNPJ, e-mail e contato organizados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0E1E2E"/>
                </a:solidFill>
                <a:latin typeface="Calibri"/>
              </a:rPr>
              <a:t>Pedidos, entregas e boletos sem triagem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5B6677"/>
                </a:solidFill>
                <a:latin typeface="Calibri"/>
              </a:rPr>
              <a:t>      tudo cai no mesmo canal, sem priorização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23560"/>
            <a:ext cx="10515600" cy="685800"/>
          </a:xfrm>
          <a:prstGeom prst="roundRect">
            <a:avLst/>
          </a:prstGeom>
          <a:solidFill>
            <a:srgbClr val="F3F8FC"/>
          </a:solidFill>
          <a:ln w="15240">
            <a:solidFill>
              <a:srgbClr val="1C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CA9E0"/>
                </a:solidFill>
                <a:latin typeface="Calibri"/>
              </a:rPr>
              <a:t>Oportunidade:  </a:t>
            </a:r>
            <a:r>
              <a:rPr sz="1600" b="0" i="0">
                <a:solidFill>
                  <a:srgbClr val="243749"/>
                </a:solidFill>
                <a:latin typeface="Calibri"/>
              </a:rPr>
              <a:t>automatizar o 1º atendimento com IA, 24/7, sem perder a qualidade nem inventar informação.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Um agente de IA que atende no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49834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9728" cy="173736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055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Cadastra o cliente novo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32888"/>
            <a:ext cx="4526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Coleta razão social, CNPJ, e-mail e contato — validando CNPJ e e-mail.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49834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109728" cy="173736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3055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Consulta o catálogo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32888"/>
            <a:ext cx="4526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Responde com produtos, SKUs, materiais e dimensões. Nunca inventa.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49834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109728" cy="173736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42231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Encaminha para a equipe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44568"/>
            <a:ext cx="4526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Pedidos, entregas e 2ª via de boleto viram fila humana priorizada.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49834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977639"/>
            <a:ext cx="109728" cy="173736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142231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Tudo num painel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44568"/>
            <a:ext cx="4526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Dashboard, conversas, clientes, catálogo e fila em tempo real.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989320"/>
            <a:ext cx="10515600" cy="548640"/>
          </a:xfrm>
          <a:prstGeom prst="roundRect">
            <a:avLst/>
          </a:prstGeom>
          <a:solidFill>
            <a:srgbClr val="0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5332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  Já em produção, respondendo no WhatsApp de verdade.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Fluxo de atendimento ponta a ponta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1556857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1556857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1556857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cliente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1062" y="2990088"/>
            <a:ext cx="502920" cy="320040"/>
          </a:xfrm>
          <a:prstGeom prst="rightArrow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01609" y="2468880"/>
            <a:ext cx="1556857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1609" y="2852928"/>
            <a:ext cx="1556857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Evolution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1609" y="3291840"/>
            <a:ext cx="1556857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gateway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96871" y="2990088"/>
            <a:ext cx="502920" cy="320040"/>
          </a:xfrm>
          <a:prstGeom prst="rightArrow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17418" y="2468880"/>
            <a:ext cx="1556857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7418" y="2852928"/>
            <a:ext cx="1556857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N8N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7418" y="3291840"/>
            <a:ext cx="1556857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orquestração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12681" y="2990088"/>
            <a:ext cx="502920" cy="320040"/>
          </a:xfrm>
          <a:prstGeom prst="rightArrow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33228" y="2468880"/>
            <a:ext cx="1556857" cy="137160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3228" y="2852928"/>
            <a:ext cx="1556857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Agente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3228" y="3291840"/>
            <a:ext cx="1556857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CEBF5"/>
                </a:solidFill>
                <a:latin typeface="Calibri"/>
              </a:rPr>
              <a:t>LangGraph + Gemini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28490" y="2990088"/>
            <a:ext cx="502920" cy="320040"/>
          </a:xfrm>
          <a:prstGeom prst="rightArrow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49037" y="2468880"/>
            <a:ext cx="1556857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9037" y="2852928"/>
            <a:ext cx="1556857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Catálogo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9037" y="3291840"/>
            <a:ext cx="1556857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Postgres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977639"/>
            <a:ext cx="1082009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7AA6"/>
                </a:solidFill>
                <a:latin typeface="Calibri"/>
              </a:rPr>
              <a:t>↩  a resposta volta pelo mesmo caminho até o cliente no 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617720"/>
            <a:ext cx="1051560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548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Regra de negócio: cadastro antes do catálogo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212080"/>
            <a:ext cx="2743200" cy="685800"/>
          </a:xfrm>
          <a:prstGeom prst="roundRect">
            <a:avLst/>
          </a:prstGeom>
          <a:solidFill>
            <a:srgbClr val="F3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285232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1E2E"/>
                </a:solidFill>
                <a:latin typeface="Calibri"/>
              </a:rPr>
              <a:t>Número novo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96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chega a mensagem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005072" y="5440680"/>
            <a:ext cx="320040" cy="32004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43400" y="5212080"/>
            <a:ext cx="2743200" cy="685800"/>
          </a:xfrm>
          <a:prstGeom prst="roundRect">
            <a:avLst/>
          </a:prstGeom>
          <a:solidFill>
            <a:srgbClr val="F3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5285232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1E2E"/>
                </a:solidFill>
                <a:latin typeface="Calibri"/>
              </a:rPr>
              <a:t>Cadastro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596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valida CNPJ/e-mail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068312" y="5440680"/>
            <a:ext cx="320040" cy="32004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06640" y="5212080"/>
            <a:ext cx="2743200" cy="685800"/>
          </a:xfrm>
          <a:prstGeom prst="roundRect">
            <a:avLst/>
          </a:prstGeom>
          <a:solidFill>
            <a:srgbClr val="F3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5285232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1E2E"/>
                </a:solidFill>
                <a:latin typeface="Calibri"/>
              </a:rPr>
              <a:t>Liberado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596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consulta o catálogo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BASE DO 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Fontes de conhecimento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10515600" cy="1143000"/>
          </a:xfrm>
          <a:prstGeom prst="roundRect">
            <a:avLst/>
          </a:prstGeom>
          <a:solidFill>
            <a:srgbClr val="0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84831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CA9E0"/>
                </a:solidFill>
                <a:latin typeface="Calibri"/>
              </a:rPr>
              <a:t>129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produtos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84831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CA9E0"/>
                </a:solidFill>
                <a:latin typeface="Calibri"/>
              </a:rPr>
              <a:t>293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variantes / SKUs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084831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CA9E0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categorias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1060704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0E1E2E"/>
                </a:solidFill>
                <a:latin typeface="Calibri"/>
              </a:rPr>
              <a:t>Catálogo de produtos (Postgres)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      extraído do site oficial; famílias, variantes/SKU, material e dimensão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0E1E2E"/>
                </a:solidFill>
                <a:latin typeface="Calibri"/>
              </a:rPr>
              <a:t>Base de clientes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      cadastros estruturados: razão social, CNPJ, e-mail, contato e status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0E1E2E"/>
                </a:solidFill>
                <a:latin typeface="Calibri"/>
              </a:rPr>
              <a:t>Histórico de conversas e eventos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      cada atendimento é persistido para métricas e continuidade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0E1E2E"/>
                </a:solidFill>
                <a:latin typeface="Calibri"/>
              </a:rPr>
              <a:t>Roadmap: base de conhecimento vetorial (RAG)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      manuais técnicos e normas (NBR 5419) para respostas ainda mais ricas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CAPACIDADES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Funções do agente (ferramentas)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34290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429000" cy="59436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3429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Cadastro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926080" cy="3108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verificar_cliente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cadastrar_cliente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validação de CNPJ e e-mail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29000" cy="594360"/>
          </a:xfrm>
          <a:prstGeom prst="roundRect">
            <a:avLst/>
          </a:prstGeom>
          <a:solidFill>
            <a:srgbClr val="147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75688"/>
            <a:ext cx="3429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926080" cy="3108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47AA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buscar_produtos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47AA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detalhes_produto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47AA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buscar_por_sku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47AA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listar_categorias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47AA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produtos_por_categoria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965960"/>
            <a:ext cx="34290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965960"/>
            <a:ext cx="3429000" cy="5943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075688"/>
            <a:ext cx="3429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Atendimento humano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2926080" cy="3108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registrar_pedido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consultar_entrega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43749"/>
                </a:solidFill>
                <a:latin typeface="Calibri"/>
              </a:rPr>
              <a:t>segunda_via_boleto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43749"/>
                </a:solidFill>
                <a:latin typeface="Calibri"/>
              </a:rPr>
              <a:t>→ geram fila para a equipe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O QUE ELE 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Ações &amp; capacidades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9728" cy="114300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055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Atende 24/7 em português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32888"/>
            <a:ext cx="45262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cordial, objetivo, no tom da marca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109728" cy="114300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3055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Cadastro antes do 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32888"/>
            <a:ext cx="45262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gate que estrutura a base de clientes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291839"/>
            <a:ext cx="109728" cy="114300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5643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Respostas com dados reais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58768"/>
            <a:ext cx="45262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nunca inventa produto, código ou preço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91839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291839"/>
            <a:ext cx="109728" cy="114300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45643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Handoff inteligente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58768"/>
            <a:ext cx="45262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pedidos, entrega e boletos vão para humano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1772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617720"/>
            <a:ext cx="109728" cy="114300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8231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Resposta humana pelo painel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84648"/>
            <a:ext cx="45262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o atendente assume e responde no 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61772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4617720"/>
            <a:ext cx="109728" cy="1143000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782312"/>
            <a:ext cx="4526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Exportação de dados (CSV)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84648"/>
            <a:ext cx="45262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clientes e fila, prontos para a operação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Painel administrativo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2084831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2084831" cy="146304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084831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1810511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métricas de atendimento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2384" y="2103120"/>
            <a:ext cx="2084831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72384" y="2103120"/>
            <a:ext cx="2084831" cy="146304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2514600"/>
            <a:ext cx="2084831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Conversas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3063240"/>
            <a:ext cx="1810511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atendimentos do WhatsApp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1808" y="2103120"/>
            <a:ext cx="2084831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21808" y="2103120"/>
            <a:ext cx="2084831" cy="146304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514600"/>
            <a:ext cx="2084831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063240"/>
            <a:ext cx="1810511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cadastros e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2" y="2103120"/>
            <a:ext cx="2084831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2" y="2103120"/>
            <a:ext cx="2084831" cy="146304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2" y="2514600"/>
            <a:ext cx="2084831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Catálogo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3063240"/>
            <a:ext cx="1810511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produtos, variantes e categorias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0656" y="2103120"/>
            <a:ext cx="2084831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0656" y="2103120"/>
            <a:ext cx="2084831" cy="146304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0656" y="2514600"/>
            <a:ext cx="2084831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1E2E"/>
                </a:solidFill>
                <a:latin typeface="Calibri"/>
              </a:rPr>
              <a:t>Fila humana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3063240"/>
            <a:ext cx="1810511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pedidos, entrega e boletos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7AA6"/>
                </a:solidFill>
                <a:latin typeface="Calibri"/>
              </a:rPr>
              <a:t>Dados reais do agente · tema claro/escuro · construído em Next.js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1060704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43749"/>
                </a:solidFill>
                <a:latin typeface="Calibri"/>
              </a:rPr>
              <a:t>Acompanhe cada conversa e assuma o atendimento quando necessário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43749"/>
                </a:solidFill>
                <a:latin typeface="Calibri"/>
              </a:rPr>
              <a:t>Veja os clientes cadastrados e a fila de pedidos em tempo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Arquitetura &amp;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10561320" cy="749808"/>
          </a:xfrm>
          <a:prstGeom prst="roundRect">
            <a:avLst/>
          </a:prstGeom>
          <a:solidFill>
            <a:srgbClr val="15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109728" cy="749808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Inteligência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EE7"/>
                </a:solidFill>
                <a:latin typeface="Calibri"/>
              </a:rPr>
              <a:t>Google Gemini (gemini-flash-latest) + LangGraph — agente único de atendimento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52928"/>
            <a:ext cx="10561320" cy="749808"/>
          </a:xfrm>
          <a:prstGeom prst="roundRect">
            <a:avLst/>
          </a:prstGeom>
          <a:solidFill>
            <a:srgbClr val="15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852928"/>
            <a:ext cx="109728" cy="749808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44368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44368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EE7"/>
                </a:solidFill>
                <a:latin typeface="Calibri"/>
              </a:rPr>
              <a:t>FastAPI (Python) · PostgreSQL (catálogo + operação)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94176"/>
            <a:ext cx="10561320" cy="749808"/>
          </a:xfrm>
          <a:prstGeom prst="roundRect">
            <a:avLst/>
          </a:prstGeom>
          <a:solidFill>
            <a:srgbClr val="15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694176"/>
            <a:ext cx="109728" cy="749808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85615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785615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EE7"/>
                </a:solidFill>
                <a:latin typeface="Calibri"/>
              </a:rPr>
              <a:t>Next.js + Tailwind — painel administrativo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35424"/>
            <a:ext cx="10561320" cy="749808"/>
          </a:xfrm>
          <a:prstGeom prst="roundRect">
            <a:avLst/>
          </a:prstGeom>
          <a:solidFill>
            <a:srgbClr val="15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535424"/>
            <a:ext cx="109728" cy="749808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26864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26864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EE7"/>
                </a:solidFill>
                <a:latin typeface="Calibri"/>
              </a:rPr>
              <a:t>Evolution API (mensageria) + N8N (orquestração do fluxo)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376672"/>
            <a:ext cx="10561320" cy="749808"/>
          </a:xfrm>
          <a:prstGeom prst="roundRect">
            <a:avLst/>
          </a:prstGeom>
          <a:solidFill>
            <a:srgbClr val="152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376672"/>
            <a:ext cx="109728" cy="749808"/>
          </a:xfrm>
          <a:prstGeom prst="round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468112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CA9E0"/>
                </a:solidFill>
                <a:latin typeface="Calibri"/>
              </a:rPr>
              <a:t>Infraestrutura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468112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EE7"/>
                </a:solidFill>
                <a:latin typeface="Calibri"/>
              </a:rPr>
              <a:t>Docker Swarm (Hetzner) · Traefik · Portainer — já em produção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5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ONDE ESTAMOS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1E2E"/>
                </a:solidFill>
                <a:latin typeface="Calibri"/>
              </a:rPr>
              <a:t>Status &amp; 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8229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120640" cy="4023360"/>
          </a:xfrm>
          <a:prstGeom prst="roundRect">
            <a:avLst/>
          </a:prstGeom>
          <a:solidFill>
            <a:srgbClr val="F3F8FC"/>
          </a:solidFill>
          <a:ln w="17780">
            <a:solidFill>
              <a:srgbClr val="1F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A06A"/>
                </a:solidFill>
                <a:latin typeface="Calibri"/>
              </a:rPr>
              <a:t>✓  Pronto e funcionando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466344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Agente em produção, atendendo no WhatsApp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Cadastro de clientes + consulta ao catálogo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Painel administrativo com dados reais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Persistência, testes e deploy automatizado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120640" cy="4023360"/>
          </a:xfrm>
          <a:prstGeom prst="roundRect">
            <a:avLst/>
          </a:prstGeom>
          <a:solidFill>
            <a:srgbClr val="F3F8FC"/>
          </a:solidFill>
          <a:ln w="17780">
            <a:solidFill>
              <a:srgbClr val="1C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CA9E0"/>
                </a:solidFill>
                <a:latin typeface="Calibri"/>
              </a:rPr>
              <a:t>→  Próximos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66344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Número de WhatsApp dedicado da Paratec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Otimizar o tempo de resposta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Base de conhecimento (RAG): normas e manuais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A9E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43749"/>
                </a:solidFill>
                <a:latin typeface="Calibri"/>
              </a:rPr>
              <a:t>Integrações reais: ERP, logística e financeiro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Paratec · Atendimento IA no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CA9E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120640" y="822960"/>
            <a:ext cx="2011680" cy="2194560"/>
          </a:xfrm>
          <a:custGeom>
            <a:avLst/>
            <a:gdLst/>
            <a:ahLst/>
            <a:cxnLst/>
            <a:rect l="l" t="t" r="r" b="b"/>
            <a:pathLst>
              <a:path w="2011680" h="2194560">
                <a:moveTo>
                  <a:pt x="0" y="987552"/>
                </a:moveTo>
                <a:lnTo>
                  <a:pt x="1106424" y="0"/>
                </a:lnTo>
                <a:lnTo>
                  <a:pt x="844905" y="833932"/>
                </a:lnTo>
                <a:lnTo>
                  <a:pt x="2011680" y="658368"/>
                </a:lnTo>
                <a:lnTo>
                  <a:pt x="905256" y="2194560"/>
                </a:lnTo>
                <a:lnTo>
                  <a:pt x="1166774" y="1316736"/>
                </a:lnTo>
                <a:lnTo>
                  <a:pt x="0" y="1492300"/>
                </a:lnTo>
                <a:close/>
              </a:path>
            </a:pathLst>
          </a:custGeom>
          <a:solidFill>
            <a:srgbClr val="1C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Do primeiro “oi” ao orçamento — </a:t>
            </a:r>
            <a:r>
              <a:rPr sz="3600" b="1" i="0">
                <a:solidFill>
                  <a:srgbClr val="1CA9E0"/>
                </a:solidFill>
                <a:latin typeface="Calibri"/>
              </a:rPr>
              <a:t>com IA, 24/7.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7D3DF"/>
                </a:solidFill>
                <a:latin typeface="Calibri"/>
              </a:rPr>
              <a:t>Plataforma de atendimento inteligente da Paratec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5212080"/>
            <a:ext cx="118872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A9E0"/>
                </a:solidFill>
                <a:latin typeface="Calibri"/>
              </a:rPr>
              <a:t>SPDA · Para-raios · NBR 5419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